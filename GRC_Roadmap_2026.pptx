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36576" cy="2011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INITIATIVE  |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Program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Modernization Roadmap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Compliance Function to Strategic Business Enabler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Prepared for the CISO  |  March 2026  |  CONFIDENTIAL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0" y="1097280"/>
            <a:ext cx="2103120" cy="2743200"/>
          </a:xfrm>
          <a:prstGeom prst="rect">
            <a:avLst/>
          </a:prstGeom>
          <a:solidFill>
            <a:srgbClr val="0E7C8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75120" y="1673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Transformation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2359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Phases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7512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0449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Initiatives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06424"/>
            <a:ext cx="292608" cy="2377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064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10698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22529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state, vision, and strategic objectives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8640" y="1472184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527048"/>
            <a:ext cx="292608" cy="2377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270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9047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Organizational Structure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164592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roles, reporting lines, capability mapping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1892808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1947672"/>
            <a:ext cx="292608" cy="2377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47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110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Gaps 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0665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GRC-Engineering disconnect, Customer Trust, maturity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2313432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2368296"/>
            <a:ext cx="292608" cy="2377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682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3317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24871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Q1-Q4 phased plan with milestones and deliverables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48640" y="2734056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2788920"/>
            <a:ext cx="292608" cy="23774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889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275234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Transformation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4128" y="290779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enablement, tooling, knowledge base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9160" y="1051560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106424"/>
            <a:ext cx="292608" cy="2377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11064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84648" y="106984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GRC-as-Code &amp; Automation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4648" y="122529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Policy-as-code, CI/CD integration, engineering partnership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1472184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1527048"/>
            <a:ext cx="292608" cy="2377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15270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84648" y="149047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Metrics &amp; Value Framework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84648" y="164592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KPIs, dashboards, business value measurement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9160" y="1892808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1947672"/>
            <a:ext cx="292608" cy="2377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194767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84648" y="19110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84648" y="20665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Implementation risks, resource needs, change management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9160" y="2313432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368296"/>
            <a:ext cx="292608" cy="2377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236829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84648" y="233172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Investment &amp; ROI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84648" y="24871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Resource requirements, expected returns, timeline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09160" y="2734056"/>
            <a:ext cx="384048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2788920"/>
            <a:ext cx="292608" cy="2377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27889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84648" y="275234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Steps &amp; The Ask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184648" y="290779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30-day action plan, CISO requests, success criteria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86200" cy="28346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886200" cy="36576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operates as isolated compliance function with no engineering integration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Manual, check-the-box audit processes with no automation or policy-as-code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uses fragmented tooling (Onboard, Conveyor, Trust Center)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revenue impact tracking despite handling deal-blocking questionnaires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GRC team members understand product, tech stack, or SDLC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 and Internal Audit lack standardized baselines and KPIs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existing roadmap, strategy, or maturity model in place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886200" cy="28346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388620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STATE (END OF 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embedded in engineering with policy-as-code in CI/CD pipelines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Automated compliance evidence collection and continuous monitoring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Unified Customer Trust platform with revenue-linked dashboards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Standardized response library reducing questionnaire TAT by 60%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 GRC expertise integrated into product and sprint planning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Risk-quantified TPRM with automated vendor assessments and tiering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Mature, metrics-driven program aligned to NIST CSF and ISO 27001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VISION:  </a:t>
            </a:r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Transform GRC from a reactive cost center into a proactive, revenue-enabling, engineering-integrated strategic function.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Organizational Structure &amp; Team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794760" y="914400"/>
            <a:ext cx="1554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94760" y="914400"/>
            <a:ext cx="155448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9784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94760" y="11430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Chief Information Security Officer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0" y="1353312"/>
            <a:ext cx="0" cy="201168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554480"/>
            <a:ext cx="594360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1554480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554480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691640"/>
            <a:ext cx="1554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1691640"/>
            <a:ext cx="1554480" cy="3657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755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Chelsea Main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19202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Engineering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794760" y="1691640"/>
            <a:ext cx="1554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1691640"/>
            <a:ext cx="15544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1755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(Sr. Dir. GRC)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94760" y="19202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Program Lead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66560" y="1691640"/>
            <a:ext cx="155448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691640"/>
            <a:ext cx="1554480" cy="3657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7556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Damian King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192024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Operations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0" y="2130552"/>
            <a:ext cx="0" cy="18288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2313432"/>
            <a:ext cx="603504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54480" y="2313432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313432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2313432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2313432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540" y="2450592"/>
            <a:ext cx="13258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1540" y="2450592"/>
            <a:ext cx="13258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891540" y="2514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Steve Hammonds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91540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BC/DR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628900" y="2450592"/>
            <a:ext cx="13258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28900" y="2450592"/>
            <a:ext cx="13258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9" name="Text 37"/>
          <p:cNvSpPr/>
          <p:nvPr/>
        </p:nvSpPr>
        <p:spPr>
          <a:xfrm>
            <a:off x="2628900" y="2514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Doug Matkins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28900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366260" y="2450592"/>
            <a:ext cx="13258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66260" y="2450592"/>
            <a:ext cx="13258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3" name="Text 41"/>
          <p:cNvSpPr/>
          <p:nvPr/>
        </p:nvSpPr>
        <p:spPr>
          <a:xfrm>
            <a:off x="4366260" y="2514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Janet De Lara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366260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Audit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240780" y="2450592"/>
            <a:ext cx="132588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40780" y="2450592"/>
            <a:ext cx="13258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7" name="Text 45"/>
          <p:cNvSpPr/>
          <p:nvPr/>
        </p:nvSpPr>
        <p:spPr>
          <a:xfrm>
            <a:off x="6240780" y="2514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40780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&amp; Questionnaires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903720" y="2834640"/>
            <a:ext cx="0" cy="13716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69280" y="2971800"/>
            <a:ext cx="2468880" cy="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2971800"/>
            <a:ext cx="0" cy="9144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12080" y="3063240"/>
            <a:ext cx="91440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1208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Eni Smigielska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492240" y="2971800"/>
            <a:ext cx="0" cy="9144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3063240"/>
            <a:ext cx="91440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03504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Russ Johnson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315200" y="2971800"/>
            <a:ext cx="0" cy="9144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0" y="3063240"/>
            <a:ext cx="91440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85800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Marcin Lachowicz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138160" y="2971800"/>
            <a:ext cx="0" cy="9144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80960" y="3063240"/>
            <a:ext cx="91440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68096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Amine Gherabi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286000" y="2834640"/>
            <a:ext cx="0" cy="228600"/>
          </a:xfrm>
          <a:prstGeom prst="line">
            <a:avLst/>
          </a:prstGeom>
          <a:noFill/>
          <a:ln w="10160">
            <a:solidFill>
              <a:srgbClr val="CBD5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54480" y="3063240"/>
            <a:ext cx="1463040" cy="384048"/>
          </a:xfrm>
          <a:prstGeom prst="rect">
            <a:avLst/>
          </a:prstGeom>
          <a:solidFill>
            <a:srgbClr val="E0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554480" y="3081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 (Paolo DiRosa)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554480" y="32461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Barbara A-O, Mateusz Toczek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8" name="Text 66"/>
          <p:cNvSpPr/>
          <p:nvPr/>
        </p:nvSpPr>
        <p:spPr>
          <a:xfrm>
            <a:off x="731520" y="42793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6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OBSERVATION: 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technical/engineering expertise within GRC team. Customer Trust lacks a dedicated lead since Jodi's departure. Peer alignment with Security Engineering is critical.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Gaps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560320" cy="32004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2560320" cy="36576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1097280"/>
            <a:ext cx="685800" cy="2011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097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GRC-Engineering Disconnect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GRC personnel understand product, tech stack, or SDLC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invited to sprint planning or architecture reviews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 audit processes, no automation or continuous monitoring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embedded GRC presence in engineering org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Compliance is after-the-fact, not integrated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2377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675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530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IMPACT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Findings discovered late; engineering views GRC as blocker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560320" cy="3200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05840"/>
            <a:ext cx="2560320" cy="36576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1097280"/>
            <a:ext cx="685800" cy="20116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97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8328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Fragmentation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83280" y="1417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fragmented tools: Onboard, Conveyor, Trust Center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 in Jira but no ROI or revenue tracking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Deal numbers visible, no revenue impact metrics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standardized legal-approved answer library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dedicated lead after Jodi's departure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37560" y="3657600"/>
            <a:ext cx="2377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3675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56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IMPACT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42900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Slower deal cycles, duplicated effort, no demonstrated value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2560320" cy="3200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005840"/>
            <a:ext cx="2560320" cy="36576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26680" y="1097280"/>
            <a:ext cx="685800" cy="20116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09728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8076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 Maturity &amp; Operations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0760" y="14173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roadmap, maturity model, or strategic plan existed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TPRM/Audit lack baselines and performance KPIs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BC/DR needs validation against current threats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risk quantification (e.g. FAIR) methodology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 not integrated with risk/compliance workflows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3657600"/>
            <a:ext cx="2377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675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056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BUSINESS IMPACT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2648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Reactive posture; cannot prioritize investments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Strategic Roadmap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1965960" cy="2926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914400"/>
            <a:ext cx="1965960" cy="2926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2569464" y="914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90288" y="914400"/>
            <a:ext cx="1965960" cy="292608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914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11112" y="914400"/>
            <a:ext cx="1965960" cy="292608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914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417320"/>
            <a:ext cx="1965960" cy="297180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417320"/>
            <a:ext cx="196596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15087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1: Foundation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169164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Assess &amp; Baseline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8368" y="1920240"/>
            <a:ext cx="17465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maturity assessment (NIST CSF)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 Customer Trust tools &amp; workflows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 TPRM/audit/BC-DR processes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capability &amp; skill gap analysis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stack education for GRC team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Define KPI framework and baselines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9464" y="1417320"/>
            <a:ext cx="1965960" cy="2971800"/>
          </a:xfrm>
          <a:prstGeom prst="rect">
            <a:avLst/>
          </a:prstGeom>
          <a:solidFill>
            <a:srgbClr val="E0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9464" y="1417320"/>
            <a:ext cx="196596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2679192" y="15087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2: Quick Wins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79192" y="169164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 Visible Value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79192" y="1920240"/>
            <a:ext cx="17465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Launch revenue-tracking dashboard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questionnaire response library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 GRC in engineering meetings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 vendor tiering &amp; risk scoring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Audit cadence + internal KPI reporting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 initial automated evidence collection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90288" y="1417320"/>
            <a:ext cx="1965960" cy="2971800"/>
          </a:xfrm>
          <a:prstGeom prst="rect">
            <a:avLst/>
          </a:prstGeom>
          <a:solidFill>
            <a:srgbClr val="EDED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1417320"/>
            <a:ext cx="196596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5087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3: Automation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0016" y="169164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Through Technology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0016" y="1920240"/>
            <a:ext cx="17465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Policy-as-code in CI/CD pipeline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 compliance evidence gathering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Consolidate Customer Trust tooling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Launch continuous control monitoring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Integrate risk quantification (FAIR)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GRC-Engineering workflows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11112" y="1417320"/>
            <a:ext cx="1965960" cy="2971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11112" y="1417320"/>
            <a:ext cx="196596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5087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4: Optimize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169164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Mature &amp; Demonstrate Value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20840" y="1920240"/>
            <a:ext cx="17465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GRC-as-Code maturity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value dashboards (risk+revenue)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Proactive risk identification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Advanced vendor risk automation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Maturity re-assessment &amp; 2027 planning</a:t>
            </a:r>
            <a:endParaRPr lang="en-US" sz="8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certification program complete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Evolve from reactive questionnaire processing to proactive revenue enablement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2560320" cy="21945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25603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Tooling Consolidation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Onboard, Conveyor, Trust Center - fragmented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Single pane of glass for all trust activities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Evaluate consolidation (Vanta, Drata, SafeBase)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Centralize artifacts in one customer portal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Reduce tools from 3+ to 1-2 platforms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560320" cy="2194560"/>
          </a:xfrm>
          <a:prstGeom prst="rect">
            <a:avLst/>
          </a:prstGeom>
          <a:solidFill>
            <a:srgbClr val="E0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56032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Deal numbers in Jira, no revenue impact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 dashboard linking to deal value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Integrate Jira with CRM for attribution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 TAT, SLA, deal-stage correlation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Demonstrate revenue enablement value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560320" cy="2194560"/>
          </a:xfrm>
          <a:prstGeom prst="rect">
            <a:avLst/>
          </a:prstGeom>
          <a:solidFill>
            <a:srgbClr val="EDED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88720"/>
            <a:ext cx="256032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554480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Current: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Ad-hoc responses, no standard library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200+ legal-approved response library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Catalog top recurring questions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 AI-assisted completion</a:t>
            </a:r>
            <a:endParaRPr lang="en-US" sz="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Metric: </a:t>
            </a:r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60% reduction in turnaround time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86868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40050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Reduction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57984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$TBD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57984" y="40050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Enabled/Qtr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67328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67328" y="40050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7667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1-2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76672" y="40050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Consolidated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86016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3C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86016" y="40050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Standardized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GRC-as-Code &amp; Engineering Integration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4160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987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Policy-as-Code in CI/CD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371600"/>
            <a:ext cx="640080" cy="38404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Commit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54480" y="1371600"/>
            <a:ext cx="640080" cy="384048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94560" y="137160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31720" y="1371600"/>
            <a:ext cx="640080" cy="38404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71800" y="137160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1371600"/>
            <a:ext cx="64008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49040" y="137160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86200" y="1371600"/>
            <a:ext cx="640080" cy="384048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Deploy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1520" y="19202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Partner with Chelsea Main (Security Eng) on pipeline integration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 OPA with Rego policies for automated compliance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Auto-generate evidence from CI/CD execution logs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GRC-friendly dashboards from engineering telemetry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987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Engineering Integration Phases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280160"/>
            <a:ext cx="36576" cy="5029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2618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1: Learn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1435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stack education (architecture, languages, cloud)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Shadow standups and sprint planning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 compliance to engineering workflows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0" y="1847088"/>
            <a:ext cx="36576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828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2: Embed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20025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liaison in architecture reviews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Bi-weekly GRC-Engineering working group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Slack channels and documentation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0" y="2414016"/>
            <a:ext cx="36576" cy="502920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3: Automate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25694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Policy-as-code in CI/CD pipelines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Automated evidence replaces manual audits</a:t>
            </a:r>
            <a:endParaRPr lang="en-US" sz="7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Self-service compliance for engineering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331927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INDUSTRY BEST PRACTICES - GRC AUTOMATION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Shift-Left Compliance: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Integrate checks early in SDLC, not at deployment gate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Continuous Compliance: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Replace point-in-time audits with real-time monitoring (NIST SP 800-137)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Evidence-as-Code: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 audit evidence from infrastructure-as-code and CI/CD logs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Risk-Based Prioritization: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FAIR or similar quantitative models to prioritize by business impact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Metrics &amp; Value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560320" cy="3063240"/>
          </a:xfrm>
          <a:prstGeom prst="rect">
            <a:avLst/>
          </a:prstGeom>
          <a:solidFill>
            <a:srgbClr val="E0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256032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024128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033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&amp; Business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Enabled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Deal value for completed questionnaires/quarter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Questionnaire TAT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turnaround time (target: &lt;5 business days)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Deal Acceleration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Reduction in sales cycle days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 Avoidance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Estimated regulatory fines/breaches avoided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914400"/>
            <a:ext cx="2560320" cy="30632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914400"/>
            <a:ext cx="256032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1024128"/>
            <a:ext cx="274320" cy="2743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1033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Automation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evidence collected automatically vs. manually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Audit Readiness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 to produce full evidence package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 Coverage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of vendors assessed within risk framework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8328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 Effectiveness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controls passing continuous monitoring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43600" y="914400"/>
            <a:ext cx="2560320" cy="3063240"/>
          </a:xfrm>
          <a:prstGeom prst="rect">
            <a:avLst/>
          </a:prstGeom>
          <a:solidFill>
            <a:srgbClr val="EDED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0" y="914400"/>
            <a:ext cx="256032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34" name="Shape 32"/>
          <p:cNvSpPr/>
          <p:nvPr/>
        </p:nvSpPr>
        <p:spPr>
          <a:xfrm>
            <a:off x="6080760" y="1024128"/>
            <a:ext cx="274320" cy="27432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1033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&amp; Maturity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Program Maturity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8076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NIST CSF maturity score (target: Tier 3)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080760" y="1965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Posture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Quantified risk trend (FAIR methodology)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080760" y="2514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Finding Closure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time to remediate findings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80760" y="3063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 Currency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policies reviewed within cycle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187952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 DELIVERY: 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dashboard (monthly CISO)  |  Operational dashboard (daily team use)  |  Customer Trust revenue dashboard (sales alignment)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Risks, Dependencies &amp; Change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77440"/>
                <a:gridCol w="685800"/>
                <a:gridCol w="685800"/>
                <a:gridCol w="38404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RISK DESCRIPTION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LIKELIHOOD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IMPACT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MITIGATION STRATEGY</a:t>
                      </a:r>
                      <a:endParaRPr lang="en-US" sz="7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R1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Engineering resistance to GRC integration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High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Start with value-add automation, not mandates. CISO sponsorship.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R2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Insufficient budget for platform/tooling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High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ROI business case from revenue data. Phase investments.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R3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Team skill gaps delay GRC-as-Code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High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Partner with Security Eng. External training. Targeted hires.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R4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Customer Trust capacity during transformation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Protect BAU capacity. Automate low-value tasks first.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R5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Nathan's return creates role ambiguity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6749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Low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High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Document decisions, maintain CISO transparency.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5303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R6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Tool consolidation disrupts Customer Trust SLAs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5621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Med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Parallel run during migration. Phased rollout.</a:t>
                      </a:r>
                      <a:endParaRPr lang="en-US" sz="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Dependencies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CISO sponsorship and executive air cover for cross-functional initiatives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Security Engineering (Chelsea Main) partnership for CI/CD and tooling integration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Budget approval for GRC platform investment and team training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CRM access (Salesforce/HubSpot) for Customer Trust revenue attribution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Investment Requirements &amp; Expected ROI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41148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87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Investment Areas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Platform &amp; Tooling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149961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platform consolidation/upgrade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automation platform (policy-as-code)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 and reporting infrastructure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TPRM automation and vendor risk platform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People &amp; Skills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GRC-Engineering technical training program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 GRC Engineer hire (policy-as-code)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team lead recruitment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Industry certifications (CISA, CRISC, CISSP)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 &amp; Consulting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3611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NIST CSF maturity assessment (external)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FAIR risk quantification implementation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Change management for engineering integration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00600" y="914400"/>
            <a:ext cx="3977640" cy="2926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914400"/>
            <a:ext cx="397764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9875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Expected Return on Investment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1325880"/>
            <a:ext cx="36576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32588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Enablement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4904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Faster questionnaire completion accelerates deal closure. Tracking quantifies exact contribution.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983480" y="1801368"/>
            <a:ext cx="36576" cy="38404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80136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 Avoidance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9659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Automated compliance reduces audit prep costs 40-60%. Continuous monitoring prevents findings.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983480" y="2276856"/>
            <a:ext cx="36576" cy="384048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2768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 Reduction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44144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Quantified risk posture improvement. Proactive identification reduces incident likelihood.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83480" y="2752344"/>
            <a:ext cx="36576" cy="384048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7523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Efficiency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9169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GRC-as-Code eliminates 60%+ manual tasks. Capacity redirected to strategic work.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83480" y="3227832"/>
            <a:ext cx="36576" cy="384048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22783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3C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3924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Strong trust posture as sales differentiator. Self-service portal reduces friction.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04164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 DELIVERY TIMELINE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2245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Days: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Gap assessment, baseline KPIs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 Days: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dashboard, response library v1, engineering embeds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180 Days: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Automation POC in CI/CD, TPRM tiering, TAT improvement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365 Days: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GRC-as-Code, executive dashboards, maturity improvement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Immediate Next Steps &amp; The 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4572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868680"/>
            <a:ext cx="45720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932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30-Day Action 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2618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1-2: Stakeholder Alignment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148132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1:1 meetings with all direct reports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Alignment with Chelsea Main and Damian King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team assessment + interim lead plan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 all existing documentation and artifacts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2402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2-3: Assessment &amp; Baseline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459736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maturity assessment (NIST CSF)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 Customer Trust workflows and tools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 TPRM, audit, BC/DR processes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Identify compliance obligations and certifications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32186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3-4: Quick Win Launch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Initiate revenue tracking dashboard development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Begin response library (top 50 questions)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Schedule first GRC-Engineering touchpoints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 initial findings to CISO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023360" cy="17830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868680"/>
            <a:ext cx="402336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Ask from CISO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234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Endorse this roadmap as official 2026 GRC strategic plan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sponsorship for Engineering integration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Approve budget for platform evaluation and training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Support hiring: Technical GRC Engineer + Trust lead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Facilitate intros to product/engineering leadership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Monthly roadmap review cadence (30-min)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6916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402336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 Criteria (12 Months)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maturity improvement (baseline to Tier 3)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Customer Trust TAT reduced by 60%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 attribution dashboard operational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Policy-as-code in at least one CI/CD pipeline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100% critical vendors assessed in TPRM framework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Appendix: Industry Best Practices &amp; Frameworks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CONFIDENTIAL  |  GRC Program Modernization Roadmap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886200" cy="155448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3886200" cy="3657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875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Framework Alignment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26187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NIST CSF 2.0 - Primary maturity model and governance backbone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ISO 27001:2022 - ISMS alignment for certification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SOC 2 Type II - Automated evidence collection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NIST SP 800-53 Rev. 5 - Comprehensive control catalog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FAIR - Quantitative risk analysis methodology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886200" cy="1554480"/>
          </a:xfrm>
          <a:prstGeom prst="rect">
            <a:avLst/>
          </a:prstGeom>
          <a:solidFill>
            <a:srgbClr val="E0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388620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875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 Technology Trends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26187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GRC-as-Code: OPA, Rego, Terraform Sentinel, AWS Config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Continuous Compliance: Real-time monitoring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AI-Assisted Trust: LLM-powered questionnaire completion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Unified Platforms: Converged risk/compliance/audit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Centers: Self-service security transparency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3886200" cy="1554480"/>
          </a:xfrm>
          <a:prstGeom prst="rect">
            <a:avLst/>
          </a:prstGeom>
          <a:solidFill>
            <a:srgbClr val="EDED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3886200" cy="36576"/>
          </a:xfrm>
          <a:prstGeom prst="rect">
            <a:avLst/>
          </a:prstGeom>
          <a:solidFill>
            <a:srgbClr val="4C51B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791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51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Organizational Best Practices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295351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Shift-Left: Embed compliance in SDLC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Three Lines Model (IIA): Clear governance delineation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Risk-Based: Prioritize high-impact controls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Value-Driven: Measure business outcomes, not checklists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Cross-Functional: GRC as partner to Eng/Product/Sales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09160" y="2606040"/>
            <a:ext cx="3886200" cy="1554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06040"/>
            <a:ext cx="3886200" cy="36576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6791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Standards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95351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NIST SP 800-137: Continuous Monitoring (ISCM)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ISACA COBIT 2019: Enterprise IT governance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IIA Three Lines Model: Risk governance guidance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CISA Cybersecurity Performance Goals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4A55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CSA CCM: Cloud-specific control mapping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GRC Program Modernization Roadmap 2026</dc:title>
  <dc:subject>PptxGenJS Presentation</dc:subject>
  <dc:creator>Senior Director, GRC</dc:creator>
  <cp:lastModifiedBy>Senior Director, GRC</cp:lastModifiedBy>
  <cp:revision>1</cp:revision>
  <dcterms:created xsi:type="dcterms:W3CDTF">2026-03-13T14:52:54Z</dcterms:created>
  <dcterms:modified xsi:type="dcterms:W3CDTF">2026-03-13T14:52:54Z</dcterms:modified>
</cp:coreProperties>
</file>