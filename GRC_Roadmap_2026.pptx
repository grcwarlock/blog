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371600"/>
            <a:ext cx="36576" cy="20116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INITIATIVE  | 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GRC Program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Modernization Roadmap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Compliance Function to Strategic Business Enabler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8046720" cy="0"/>
          </a:xfrm>
          <a:prstGeom prst="line">
            <a:avLst/>
          </a:prstGeom>
          <a:noFill/>
          <a:ln w="6350">
            <a:solidFill>
              <a:srgbClr val="4A55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CISO  |  March 2026  |  CONFIDENTIAL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75120" y="1097280"/>
            <a:ext cx="2103120" cy="2743200"/>
          </a:xfrm>
          <a:prstGeom prst="rect">
            <a:avLst/>
          </a:prstGeom>
          <a:solidFill>
            <a:srgbClr val="0E7C86">
              <a:alpha val="8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675120" y="16733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Year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675120" y="23591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Phases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75120" y="2697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75120" y="30449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Initiatives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106424"/>
            <a:ext cx="292608" cy="2377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0642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4128" y="1069848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24128" y="1225296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state, vision, and strategic objectives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48640" y="1472184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1527048"/>
            <a:ext cx="292608" cy="2377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5270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4128" y="1490472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Structure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1645920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roles, reporting lines, capability mapping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48640" y="1892808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1947672"/>
            <a:ext cx="292608" cy="2377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194767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4128" y="1911096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Gaps Analysis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4128" y="206654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GRC-Engineering disconnect, Customer Trust, maturity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8640" y="2313432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2368296"/>
            <a:ext cx="292608" cy="2377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682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4128" y="2331720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Roadmap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4128" y="2487168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Q1-Q4 phased plan with milestones and deliverables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48640" y="2734056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2788920"/>
            <a:ext cx="292608" cy="2377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24128" y="2752344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Transformation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24128" y="2907792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enablement, tooling, knowledge base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709160" y="1051560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1106424"/>
            <a:ext cx="292608" cy="23774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110642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84648" y="1069848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GRC-as-Code &amp; Automation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84648" y="1225296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Policy-as-code, CI/CD integration, engineering partnership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709160" y="1472184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800600" y="1527048"/>
            <a:ext cx="292608" cy="23774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8" name="Text 36"/>
          <p:cNvSpPr/>
          <p:nvPr/>
        </p:nvSpPr>
        <p:spPr>
          <a:xfrm>
            <a:off x="4800600" y="15270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84648" y="1490472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Value Framework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84648" y="1645920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dashboards, business value measurement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1892808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800600" y="1947672"/>
            <a:ext cx="292608" cy="23774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3" name="Text 41"/>
          <p:cNvSpPr/>
          <p:nvPr/>
        </p:nvSpPr>
        <p:spPr>
          <a:xfrm>
            <a:off x="4800600" y="194767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84648" y="1911096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Dependencies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84648" y="206654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risks, resource needs, change management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709160" y="2313432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800600" y="2368296"/>
            <a:ext cx="292608" cy="23774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8" name="Text 46"/>
          <p:cNvSpPr/>
          <p:nvPr/>
        </p:nvSpPr>
        <p:spPr>
          <a:xfrm>
            <a:off x="4800600" y="23682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184648" y="2331720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&amp; ROI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184648" y="2487168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requirements, expected returns, timeline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709160" y="2734056"/>
            <a:ext cx="3840480" cy="347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00600" y="2788920"/>
            <a:ext cx="292608" cy="23774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3" name="Text 51"/>
          <p:cNvSpPr/>
          <p:nvPr/>
        </p:nvSpPr>
        <p:spPr>
          <a:xfrm>
            <a:off x="4800600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184648" y="2752344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The Ask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84648" y="2907792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action plan, CISO requests, success criteria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3886200" cy="28346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05840"/>
            <a:ext cx="3886200" cy="36576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15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3520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operates as isolated compliance function with no engineering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check-the-box audit processes with no automation or policy-as-code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uses fragmented tooling (Onboard, Conveyor, Trust Center)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revenue impact tracking despite handling deal-blocking questionnaires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GRC team members understand product, tech stack, or SDLC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TPRM and Internal Audit lack standardized baselines and KPIs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roadmap, strategy, or maturity model in place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886200" cy="2834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005840"/>
            <a:ext cx="3886200" cy="36576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115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 (END OF 2026)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92040" y="1417320"/>
            <a:ext cx="3520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embedded in engineering with policy-as-code in CI/CD pipelines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compliance evidence collection and continuous monitoring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Customer Trust platform with revenue-linked dashboards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response library reducing questionnaire TAT by 60%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GRC expertise integrated into product and sprint planning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Risk-quantified TPRM with automated vendor assessments and tiering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metrics-driven program aligned to NIST CSF and ISO 27001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solidFill>
            <a:srgbClr val="EBF4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690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VISION:  </a:t>
            </a:r>
            <a:pPr indent="0" marL="0">
              <a:buNone/>
            </a:pPr>
            <a:r>
              <a:rPr lang="en-US" sz="10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GRC from a reactive cost center into a proactive, revenue-enabling, engineering-integrated strategic function.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Organizational Structure &amp; Team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794760" y="914400"/>
            <a:ext cx="155448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794760" y="914400"/>
            <a:ext cx="1554480" cy="36576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8" name="Text 6"/>
          <p:cNvSpPr/>
          <p:nvPr/>
        </p:nvSpPr>
        <p:spPr>
          <a:xfrm>
            <a:off x="3794760" y="9784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94760" y="114300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Information Security Officer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572000" y="1353312"/>
            <a:ext cx="0" cy="201168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554480"/>
            <a:ext cx="5943600" cy="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554480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554480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1554480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1691640"/>
            <a:ext cx="155448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1691640"/>
            <a:ext cx="1554480" cy="36576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1755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Chelsea Main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" y="192024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3794760" y="1691640"/>
            <a:ext cx="155448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94760" y="1691640"/>
            <a:ext cx="155448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3794760" y="1755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(Sr. Dir. GRC)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794760" y="192024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Program Lead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766560" y="1691640"/>
            <a:ext cx="155448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66560" y="1691640"/>
            <a:ext cx="1554480" cy="36576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25" name="Text 23"/>
          <p:cNvSpPr/>
          <p:nvPr/>
        </p:nvSpPr>
        <p:spPr>
          <a:xfrm>
            <a:off x="6766560" y="1755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Damian King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766560" y="192024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Operations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572000" y="2130552"/>
            <a:ext cx="0" cy="18288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4480" y="2313432"/>
            <a:ext cx="6035040" cy="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54480" y="2313432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91840" y="2313432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0" y="2313432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2313432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1540" y="2450592"/>
            <a:ext cx="132588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1540" y="2450592"/>
            <a:ext cx="132588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5" name="Text 33"/>
          <p:cNvSpPr/>
          <p:nvPr/>
        </p:nvSpPr>
        <p:spPr>
          <a:xfrm>
            <a:off x="891540" y="2514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Hammonds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91540" y="267919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BC/DR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28900" y="2450592"/>
            <a:ext cx="132588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628900" y="2450592"/>
            <a:ext cx="132588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9" name="Text 37"/>
          <p:cNvSpPr/>
          <p:nvPr/>
        </p:nvSpPr>
        <p:spPr>
          <a:xfrm>
            <a:off x="2628900" y="2514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Doug Matkins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628900" y="267919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TPRM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366260" y="2450592"/>
            <a:ext cx="132588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366260" y="2450592"/>
            <a:ext cx="132588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3" name="Text 41"/>
          <p:cNvSpPr/>
          <p:nvPr/>
        </p:nvSpPr>
        <p:spPr>
          <a:xfrm>
            <a:off x="4366260" y="2514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Janet De Lara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366260" y="267919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Audit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240780" y="2450592"/>
            <a:ext cx="132588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40780" y="2450592"/>
            <a:ext cx="132588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7" name="Text 45"/>
          <p:cNvSpPr/>
          <p:nvPr/>
        </p:nvSpPr>
        <p:spPr>
          <a:xfrm>
            <a:off x="6240780" y="2514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240780" y="267919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Questionnaires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6903720" y="2834640"/>
            <a:ext cx="0" cy="13716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0" y="2971800"/>
            <a:ext cx="2468880" cy="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971800"/>
            <a:ext cx="0" cy="9144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12080" y="3063240"/>
            <a:ext cx="91440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212080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 Smigielska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492240" y="2971800"/>
            <a:ext cx="0" cy="9144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3063240"/>
            <a:ext cx="91440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035040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 Johnson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7315200" y="2971800"/>
            <a:ext cx="0" cy="9144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858000" y="3063240"/>
            <a:ext cx="91440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6858000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Marcin Lachowicz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8138160" y="2971800"/>
            <a:ext cx="0" cy="9144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680960" y="3063240"/>
            <a:ext cx="91440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7680960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Gherabi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2286000" y="2834640"/>
            <a:ext cx="0" cy="228600"/>
          </a:xfrm>
          <a:prstGeom prst="line">
            <a:avLst/>
          </a:prstGeom>
          <a:noFill/>
          <a:ln w="10160">
            <a:solidFill>
              <a:srgbClr val="CBD5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554480" y="3063240"/>
            <a:ext cx="1463040" cy="384048"/>
          </a:xfrm>
          <a:prstGeom prst="rect">
            <a:avLst/>
          </a:prstGeom>
          <a:solidFill>
            <a:srgbClr val="E0F5F5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1554480" y="30815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(Paolo DiRosa)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554480" y="32461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Barbara A-O, Mateusz Toczek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8" name="Text 66"/>
          <p:cNvSpPr/>
          <p:nvPr/>
        </p:nvSpPr>
        <p:spPr>
          <a:xfrm>
            <a:off x="731520" y="427939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OBSERVATION:  </a:t>
            </a:r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technical/engineering expertise within GRC team. Customer Trust lacks a dedicated lead since Jodi's departure. Peer alignment with Security Engineering is critical.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Gaps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2560320" cy="320040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05840"/>
            <a:ext cx="2560320" cy="36576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1097280"/>
            <a:ext cx="685800" cy="201168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10972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097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GRC-Engineering Disconnect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141732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GRC personnel understand product, tech stack, or SDLC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invited to sprint planning or architecture reviews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 processes, no automation or continuous monitoring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embedded GRC presence in engineering org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is after-the-fact, not integrated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23774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67588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31520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discovered late; engineering views GRC as blocker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246120" y="1005840"/>
            <a:ext cx="2560320" cy="32004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6120" y="1005840"/>
            <a:ext cx="2560320" cy="36576"/>
          </a:xfrm>
          <a:prstGeom prst="rect">
            <a:avLst/>
          </a:prstGeom>
          <a:solidFill>
            <a:srgbClr val="C05621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0" y="1097280"/>
            <a:ext cx="685800" cy="201168"/>
          </a:xfrm>
          <a:prstGeom prst="rect">
            <a:avLst/>
          </a:prstGeom>
          <a:solidFill>
            <a:srgbClr val="C0562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0972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83280" y="1097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Fragmentation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83280" y="141732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fragmented tools: Onboard, Conveyor, Trust Center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Jira but no ROI or revenue tracking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numbers visible, no revenue impact metrics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standardized legal-approved answer library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lead after Jodi's departure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337560" y="3657600"/>
            <a:ext cx="23774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29000" y="367588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429000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deal cycles, duplicated effort, no demonstrated value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943600" y="1005840"/>
            <a:ext cx="2560320" cy="32004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0" y="1005840"/>
            <a:ext cx="2560320" cy="36576"/>
          </a:xfrm>
          <a:prstGeom prst="rect">
            <a:avLst/>
          </a:prstGeom>
          <a:solidFill>
            <a:srgbClr val="C05621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6680" y="1097280"/>
            <a:ext cx="685800" cy="201168"/>
          </a:xfrm>
          <a:prstGeom prst="rect">
            <a:avLst/>
          </a:prstGeom>
          <a:solidFill>
            <a:srgbClr val="C05621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10972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080760" y="1097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Maturity &amp; Operations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80760" y="141732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roadmap, maturity model, or strategic plan existed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TPRM/Audit lack baselines and performance KPIs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BC/DR needs validation against current threats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risk quantification (e.g. FAIR) methodology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not integrated with risk/compliance workflows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0" y="3657600"/>
            <a:ext cx="23774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26480" y="367588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126480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posture; cannot prioritize investments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Roadmap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196596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144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14400"/>
            <a:ext cx="1965960" cy="29260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2569464" y="9144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90288" y="914400"/>
            <a:ext cx="1965960" cy="292608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11" name="Text 9"/>
          <p:cNvSpPr/>
          <p:nvPr/>
        </p:nvSpPr>
        <p:spPr>
          <a:xfrm>
            <a:off x="4590288" y="9144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11112" y="914400"/>
            <a:ext cx="1965960" cy="292608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3" name="Text 11"/>
          <p:cNvSpPr/>
          <p:nvPr/>
        </p:nvSpPr>
        <p:spPr>
          <a:xfrm>
            <a:off x="6611112" y="9144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417320"/>
            <a:ext cx="1965960" cy="2971800"/>
          </a:xfrm>
          <a:prstGeom prst="rect">
            <a:avLst/>
          </a:prstGeom>
          <a:solidFill>
            <a:srgbClr val="EBF4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417320"/>
            <a:ext cx="196596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1508760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58368" y="1691640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&amp; Baseline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58368" y="1920240"/>
            <a:ext cx="174650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maturity assessment (NIST CSF)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Customer Trust tools &amp; workflows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TPRM/audit/BC-DR processes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capability &amp; skill gap analysis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education for GRC team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KPI framework and baselines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69464" y="1417320"/>
            <a:ext cx="1965960" cy="2971800"/>
          </a:xfrm>
          <a:prstGeom prst="rect">
            <a:avLst/>
          </a:prstGeom>
          <a:solidFill>
            <a:srgbClr val="E0F5F5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69464" y="1417320"/>
            <a:ext cx="196596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2679192" y="1508760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Quick Wins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679192" y="1691640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Visible Value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679192" y="1920240"/>
            <a:ext cx="174650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revenue-tracking dashboard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questionnaire response library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GRC in engineering meetings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TPRM vendor tiering &amp; risk scoring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cadence + internal KPI reporting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initial automated evidence collection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90288" y="1417320"/>
            <a:ext cx="1965960" cy="2971800"/>
          </a:xfrm>
          <a:prstGeom prst="rect">
            <a:avLst/>
          </a:prstGeom>
          <a:solidFill>
            <a:srgbClr val="EDED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0288" y="1417320"/>
            <a:ext cx="1965960" cy="36576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26" name="Text 24"/>
          <p:cNvSpPr/>
          <p:nvPr/>
        </p:nvSpPr>
        <p:spPr>
          <a:xfrm>
            <a:off x="4700016" y="1508760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Automation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00016" y="1691640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Through Technology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700016" y="1920240"/>
            <a:ext cx="174650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in CI/CD pipeline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compliance evidence gathering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Customer Trust tooling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continuous control monitoring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risk quantification (FAIR)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GRC-Engineering workflows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611112" y="1417320"/>
            <a:ext cx="1965960" cy="2971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11112" y="1417320"/>
            <a:ext cx="1965960" cy="36576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508760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Optimize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720840" y="1691640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&amp; Demonstrate Value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20840" y="1920240"/>
            <a:ext cx="174650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GRC-as-Code maturity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value dashboards (risk+revenue)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risk identification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vendor risk automation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re-assessment &amp; 2027 planning</a:t>
            </a:r>
            <a:endParaRPr lang="en-US" sz="8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certification program complete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Trust Transformation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from reactive questionnaire processing to proactive revenue enablement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2560320" cy="2194560"/>
          </a:xfrm>
          <a:prstGeom prst="rect">
            <a:avLst/>
          </a:prstGeom>
          <a:solidFill>
            <a:srgbClr val="EBF4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188720"/>
            <a:ext cx="256032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80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Consolidation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22860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Onboard, Conveyor, Trust Center - fragmented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pane of glass for all trust activities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consolidation (Vanta, Drata, SafeBase)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artifacts in one customer portal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tools from 3+ to 1-2 platforms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560320" cy="2194560"/>
          </a:xfrm>
          <a:prstGeom prst="rect">
            <a:avLst/>
          </a:prstGeom>
          <a:solidFill>
            <a:srgbClr val="E0F5F5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188720"/>
            <a:ext cx="256032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1280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1554480"/>
            <a:ext cx="22860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numbers in Jira, no revenue impact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 linking to deal value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Jira with CRM for attribution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TAT, SLA, deal-stage correlation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revenue enablement value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43600" y="1188720"/>
            <a:ext cx="2560320" cy="2194560"/>
          </a:xfrm>
          <a:prstGeom prst="rect">
            <a:avLst/>
          </a:prstGeom>
          <a:solidFill>
            <a:srgbClr val="EDED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0" y="1188720"/>
            <a:ext cx="2560320" cy="36576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1280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80760" y="1554480"/>
            <a:ext cx="22860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responses, no standard library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legal-approved response library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top recurring questions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AI-assisted completion</a:t>
            </a:r>
            <a:endParaRPr lang="en-US" sz="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</a:t>
            </a:r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reduction in turnaround time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86868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3611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" y="4005072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157984" y="3611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$TBD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157984" y="4005072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Enabled/Qtr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67328" y="3611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51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767328" y="4005072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376672" y="3611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67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1-2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76672" y="4005072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986016" y="3611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53C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86016" y="4005072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GRC-as-Code &amp; Engineering Integration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41605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9875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in CI/CD Pipeline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640080" cy="384048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417320" y="1371600"/>
            <a:ext cx="137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0"/>
                </a:solidFill>
              </a:rPr>
              <a:t>▶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554480" y="1371600"/>
            <a:ext cx="640080" cy="384048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3716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194560" y="1371600"/>
            <a:ext cx="137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0"/>
                </a:solidFill>
              </a:rPr>
              <a:t>▶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331720" y="1371600"/>
            <a:ext cx="640080" cy="38404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2331720" y="13716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971800" y="1371600"/>
            <a:ext cx="137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0"/>
                </a:solidFill>
              </a:rPr>
              <a:t>▶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08960" y="1371600"/>
            <a:ext cx="640080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3108960" y="13716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749040" y="1371600"/>
            <a:ext cx="137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0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86200" y="1371600"/>
            <a:ext cx="640080" cy="384048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1" name="Text 19"/>
          <p:cNvSpPr/>
          <p:nvPr/>
        </p:nvSpPr>
        <p:spPr>
          <a:xfrm>
            <a:off x="3886200" y="13716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31520" y="192024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Chelsea Main (Security Eng) on pipeline integration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OPA with Rego policies for automated compliance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 evidence from CI/CD execution logs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GRC-friendly dashboards from engineering telemetry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846320" y="91440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0" y="987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Integration Phases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280160"/>
            <a:ext cx="36576" cy="5029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12618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Learn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66360" y="143560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education (architecture, languages, cloud)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standups and sprint planning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compliance to engineering workflows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029200" y="1847088"/>
            <a:ext cx="36576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5166360" y="18288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Embed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66360" y="2002536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liaison in architecture reviews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Bi-weekly GRC-Engineering working group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Slack channels and documentation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0" y="2414016"/>
            <a:ext cx="36576" cy="502920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32" name="Text 30"/>
          <p:cNvSpPr/>
          <p:nvPr/>
        </p:nvSpPr>
        <p:spPr>
          <a:xfrm>
            <a:off x="5166360" y="23957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Automate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166360" y="25694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in CI/CD pipelines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evidence replaces manual audits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compliance for engineering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8640" y="3246120"/>
            <a:ext cx="8046720" cy="1280160"/>
          </a:xfrm>
          <a:prstGeom prst="rect">
            <a:avLst/>
          </a:prstGeom>
          <a:solidFill>
            <a:srgbClr val="EBF4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3319272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BEST PRACTICES - GRC AUTOMATION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35661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Shift-Left Compliance: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checks early in SDLC, not at deployment gate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Compliance: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point-in-time audits with real-time monitoring (NIST SP 800-137)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Evidence-as-Code: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audit evidence from infrastructure-as-code and CI/CD logs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Prioritization: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FAIR or similar quantitative models to prioritize by business impact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 &amp; Value Framework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2560320" cy="3063240"/>
          </a:xfrm>
          <a:prstGeom prst="rect">
            <a:avLst/>
          </a:prstGeom>
          <a:solidFill>
            <a:srgbClr val="E0F5F5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914400"/>
            <a:ext cx="256032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024128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024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10332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Business Value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4173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Enabled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581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value for completed questionnaires/quarter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85800" y="19659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TAT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turnaround time (target: &lt;5 business days)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85800" y="25146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Acceleration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679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sales cycle days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85800" y="30632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Avoidance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5800" y="3227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regulatory fines/breaches avoided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246120" y="914400"/>
            <a:ext cx="2560320" cy="3063240"/>
          </a:xfrm>
          <a:prstGeom prst="rect">
            <a:avLst/>
          </a:prstGeom>
          <a:solidFill>
            <a:srgbClr val="EBF4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46120" y="914400"/>
            <a:ext cx="256032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1024128"/>
            <a:ext cx="274320" cy="2743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024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49040" y="10332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Excellence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14173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1581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evidence collected automatically vs. manually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383280" y="19659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Readiness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produce full evidence package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383280" y="25146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TPRM Coverage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2679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vendors assessed within risk framework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383280" y="30632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Effectiveness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227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controls passing continuous monitoring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943600" y="914400"/>
            <a:ext cx="2560320" cy="3063240"/>
          </a:xfrm>
          <a:prstGeom prst="rect">
            <a:avLst/>
          </a:prstGeom>
          <a:solidFill>
            <a:srgbClr val="EDED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0" y="914400"/>
            <a:ext cx="2560320" cy="36576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34" name="Shape 32"/>
          <p:cNvSpPr/>
          <p:nvPr/>
        </p:nvSpPr>
        <p:spPr>
          <a:xfrm>
            <a:off x="6080760" y="1024128"/>
            <a:ext cx="274320" cy="274320"/>
          </a:xfrm>
          <a:prstGeom prst="ellipse">
            <a:avLst/>
          </a:prstGeom>
          <a:solidFill>
            <a:srgbClr val="4C51BF"/>
          </a:solidFill>
          <a:ln/>
        </p:spPr>
      </p:sp>
      <p:sp>
        <p:nvSpPr>
          <p:cNvPr id="35" name="Text 33"/>
          <p:cNvSpPr/>
          <p:nvPr/>
        </p:nvSpPr>
        <p:spPr>
          <a:xfrm>
            <a:off x="6080760" y="1024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46520" y="10332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Maturity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080760" y="14173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Maturity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080760" y="1581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maturity score (target: Tier 3)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80760" y="19659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Posture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08076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risk trend (FAIR methodology)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080760" y="25146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Closure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80760" y="2679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remediate findings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080760" y="30632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Currency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80760" y="3227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policies reviewed within cycle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" y="4187952"/>
            <a:ext cx="7680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DELIVERY:  </a:t>
            </a:r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 (monthly CISO)  |  Operational dashboard (daily team use)  |  Customer Trust revenue dashboard (sales alignment)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Risks, Dependencies &amp; Change Management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377440"/>
                <a:gridCol w="685800"/>
                <a:gridCol w="68580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DESCRIPTION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STRATEGY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resistance to GRC integration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with value-add automation, not mandates. CISO sponsorship.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Insufficient budget for platform/tooling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business case from revenue data. Phase investments.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skill gaps delay GRC-as-Code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 with Security Eng. External training. Targeted hires.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Trust capacity during transformation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BAU capacity. Automate low-value tasks first.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Nathan's return creates role ambiguity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67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decisions, maintain CISO transparency.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consolidation disrupts Customer Trust SLAs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05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run during migration. Phased rollout.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703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Dependencies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 sponsorship and executive air cover for cross-functional initiatives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 (Chelsea Main) partnership for CI/CD and tooling integration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approval for GRC platform investment and team training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access (Salesforce/HubSpot) for Customer Trust revenue attribution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Requirements &amp; Expected ROI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4114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914400"/>
            <a:ext cx="411480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987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Areas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29844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Platform &amp; Tooling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499616"/>
            <a:ext cx="3611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platform consolidation/upgrade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automation platform (policy-as-code)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reporting infrastructure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TPRM automation and vendor risk platform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226771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Skills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2468880"/>
            <a:ext cx="3611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GRC-Engineering technical training program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GRC Engineer hire (policy-as-code)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team lead recruitment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certifications (CISA, CRISC, CISSP)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323697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&amp; Consulting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3438144"/>
            <a:ext cx="361188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maturity assessment (external)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risk quantification implementation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for engineering integration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800600" y="914400"/>
            <a:ext cx="3977640" cy="2926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0600" y="914400"/>
            <a:ext cx="3977640" cy="36576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987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Return on Investment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83480" y="1325880"/>
            <a:ext cx="36576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1325880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Enablement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20640" y="14904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questionnaire completion accelerates deal closure. Tracking quantifies exact contribution.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983480" y="1801368"/>
            <a:ext cx="36576" cy="38404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1801368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Avoidance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20640" y="19659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compliance reduces audit prep costs 40-60%. Continuous monitoring prevents findings.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983480" y="2276856"/>
            <a:ext cx="36576" cy="384048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227685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20640" y="24414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risk posture improvement. Proactive identification reduces incident likelihood.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983480" y="2752344"/>
            <a:ext cx="36576" cy="384048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275234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Efficiency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0640" y="29169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GRC-as-Code eliminates 60%+ manual tasks. Capacity redirected to strategic work.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983480" y="3227832"/>
            <a:ext cx="36576" cy="384048"/>
          </a:xfrm>
          <a:prstGeom prst="rect">
            <a:avLst/>
          </a:prstGeom>
          <a:solidFill>
            <a:srgbClr val="553C9A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0" y="3227832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3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20640" y="339242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trust posture as sales differentiator. Self-service portal reduces friction.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48640" y="4023360"/>
            <a:ext cx="8046720" cy="594360"/>
          </a:xfrm>
          <a:prstGeom prst="rect">
            <a:avLst/>
          </a:prstGeom>
          <a:solidFill>
            <a:srgbClr val="EBF4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4041648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DELIVERY TIMELINE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" y="422452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assessment, baseline KPIs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dashboard, response library v1, engineering embeds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POC in CI/CD, TPRM tiering, TAT improvement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Days: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GRC-as-Code, executive dashboards, maturity improvement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 Next Steps &amp; The Ask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48640" y="868680"/>
            <a:ext cx="45720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868680"/>
            <a:ext cx="457200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932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Action Plan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26187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1-2: Stakeholder Alignment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1481328"/>
            <a:ext cx="40690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meetings with all direct reports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Chelsea Main and Damian King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team assessment + interim lead plan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all existing documentation and artifacts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224028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2-3: Assessment &amp; Baseline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7240" y="2459736"/>
            <a:ext cx="40690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maturity assessment (NIST CSF)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Customer Trust workflows and tools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TPRM, audit, BC/DR processes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compliance obligations and certifications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321868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3-4: Quick Win Launch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77240" y="3438144"/>
            <a:ext cx="40690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Initiate revenue tracking dashboard development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response library (top 50 questions)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first GRC-Engineering touchpoints</a:t>
            </a:r>
            <a:endParaRPr lang="en-US" sz="8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initial findings to CISO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1783080"/>
          </a:xfrm>
          <a:prstGeom prst="rect">
            <a:avLst/>
          </a:prstGeom>
          <a:solidFill>
            <a:srgbClr val="EBF4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68680"/>
            <a:ext cx="4023360" cy="36576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from CISO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1234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this roadmap as official 2026 GRC strategic plan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sponsorship for Engineering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budget for platform evaluation and training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hiring: Technical GRC Engineer + Trust lead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Facilitate intros to product/engineering leadership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roadmap review cadence (30-min)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0" y="2834640"/>
            <a:ext cx="4023360" cy="1691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834640"/>
            <a:ext cx="4023360" cy="36576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2889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(12 Months)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32004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maturity improvement (baseline to Tier 3)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 TAT reduced by 60%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attribution dashboard operational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in at least one CI/CD pipeline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critical vendors assessed in TPRM framework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Appendix: Industry Best Practices &amp; Frameworks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GRC Program Modernization Roadmap 2026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3886200" cy="1554480"/>
          </a:xfrm>
          <a:prstGeom prst="rect">
            <a:avLst/>
          </a:prstGeom>
          <a:solidFill>
            <a:srgbClr val="EBF4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914400"/>
            <a:ext cx="3886200" cy="3657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98755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Alignment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261872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2.0 - Primary maturity model and governance backbone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27001:2022 - ISMS alignment for certification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- Automated evidence collection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Rev. 5 - Comprehensive control catalog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- Quantitative risk analysis methodology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3886200" cy="1554480"/>
          </a:xfrm>
          <a:prstGeom prst="rect">
            <a:avLst/>
          </a:prstGeom>
          <a:solidFill>
            <a:srgbClr val="E0F5F5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914400"/>
            <a:ext cx="3886200" cy="365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98755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Technology Trends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0" y="1261872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GRC-as-Code: OPA, Rego, Terraform Sentinel, AWS Config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Compliance: Real-time monitoring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Trust: LLM-powered questionnaire completion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Platforms: Converged risk/compliance/audit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Centers: Self-service security transparency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3886200" cy="1554480"/>
          </a:xfrm>
          <a:prstGeom prst="rect">
            <a:avLst/>
          </a:prstGeom>
          <a:solidFill>
            <a:srgbClr val="EDED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606040"/>
            <a:ext cx="3886200" cy="36576"/>
          </a:xfrm>
          <a:prstGeom prst="rect">
            <a:avLst/>
          </a:prstGeom>
          <a:solidFill>
            <a:srgbClr val="4C51B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7919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5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Best Practices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2953512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Shift-Left: Embed compliance in SDLC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Model (IIA): Clear governance delineation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Risk-Based: Prioritize high-impact controls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Value-Driven: Measure business outcomes, not checklists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Cross-Functional: GRC as partner to Eng/Product/Sales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09160" y="2606040"/>
            <a:ext cx="3886200" cy="15544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606040"/>
            <a:ext cx="3886200" cy="36576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67919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Standards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953512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800-137: Continuous Monitoring (ISCM)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ISACA COBIT 2019: Enterprise IT governance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IIA Three Lines Model: Risk governance guidance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Cybersecurity Performance Goals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 CCM: Cloud-specific control mapping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GRC Program Modernization Roadmap 2026</dc:title>
  <dc:subject>PptxGenJS Presentation</dc:subject>
  <dc:creator>Senior Director, GRC</dc:creator>
  <cp:lastModifiedBy>Senior Director, GRC</cp:lastModifiedBy>
  <cp:revision>1</cp:revision>
  <dcterms:created xsi:type="dcterms:W3CDTF">2026-03-13T14:46:41Z</dcterms:created>
  <dcterms:modified xsi:type="dcterms:W3CDTF">2026-03-13T14:46:41Z</dcterms:modified>
</cp:coreProperties>
</file>